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82296" cy="1920240"/>
          </a:xfrm>
          <a:prstGeom prst="rect">
            <a:avLst/>
          </a:prstGeom>
          <a:solidFill>
            <a:srgbClr val="60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103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8FA6D4"/>
                </a:solidFill>
                <a:latin typeface="Arial"/>
              </a:rPr>
              <a:t>ExtendedTimePotion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487168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>
                <a:solidFill>
                  <a:srgbClr val="FFFFFF"/>
                </a:solidFill>
                <a:latin typeface="Arial"/>
              </a:rPr>
              <a:t>Architecture CI &amp; scripts de mise à jour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01568"/>
            <a:ext cx="9692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9C5DD"/>
                </a:solidFill>
                <a:latin typeface="Arial"/>
              </a:rPr>
              <a:t>Comment les 3 workflows GitHub Actions, le script Python de résolution de versions</a:t>
            </a:r>
          </a:p>
          <a:p>
            <a:pPr algn="l"/>
            <a:r>
              <a:rPr sz="1500" b="0">
                <a:solidFill>
                  <a:srgbClr val="B9C5DD"/>
                </a:solidFill>
                <a:latin typeface="Arial"/>
              </a:rPr>
              <a:t>et les 2 scripts bash de test s'imbriquent — et pourquoi.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617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F93BC"/>
                </a:solidFill>
                <a:latin typeface="Courier New"/>
              </a:rPr>
              <a:t>.github/workflows/  ·  .github/scripts/  ·  scripts/update-mc-version.py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B253B"/>
                </a:solidFill>
                <a:latin typeface="Arial"/>
              </a:rPr>
              <a:t>Les 6 pièces du système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3 workflows déclenchés par GitHub · 3 scripts réutilisables en local · un état partagé dans les fichiers du repo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365760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80744"/>
            <a:ext cx="68580" cy="129844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8074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53B"/>
                </a:solidFill>
                <a:latin typeface="Courier New"/>
              </a:rPr>
              <a:t>ci.yml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70078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D4ED8"/>
                </a:solidFill>
                <a:latin typeface="Arial"/>
              </a:rPr>
              <a:t>Workflow · push master, PR, manuel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993392"/>
            <a:ext cx="3429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Garde-fou de tous les jours : build + un serveur headless</a:t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sur la version courante. Ne modifie jamais le repo.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234440"/>
            <a:ext cx="365760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380744"/>
            <a:ext cx="68580" cy="129844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38074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53B"/>
                </a:solidFill>
                <a:latin typeface="Courier New"/>
              </a:rPr>
              <a:t>check-new-minecraft.yml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170078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D4ED8"/>
                </a:solidFill>
                <a:latin typeface="Arial"/>
              </a:rPr>
              <a:t>Workflow · cron mercredi 06:00 UTC, manuel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993392"/>
            <a:ext cx="3429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Le pipeline complet : détecte, met à jour, teste toutes les</a:t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versions revendiquées, ouvre la PR, ouvre l'issue si échec.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234440"/>
            <a:ext cx="365760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8001000" y="1380744"/>
            <a:ext cx="68580" cy="129844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0456" y="138074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53B"/>
                </a:solidFill>
                <a:latin typeface="Courier New"/>
              </a:rPr>
              <a:t>tag-mc-support.yml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170078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D4ED8"/>
                </a:solidFill>
                <a:latin typeface="Arial"/>
              </a:rPr>
              <a:t>Workflow · push master sur gradle.properties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0456" y="1993392"/>
            <a:ext cx="3429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Après merge : pose le tag v&lt;mod_version&gt; s'il n'existe pas</a:t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encore. Idempotent, rejouable.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063240"/>
            <a:ext cx="365760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09544"/>
            <a:ext cx="68580" cy="12984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320954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53B"/>
                </a:solidFill>
                <a:latin typeface="Courier New"/>
              </a:rPr>
              <a:t>update-mc-version.py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" y="352958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B45309"/>
                </a:solidFill>
                <a:latin typeface="Arial"/>
              </a:rPr>
              <a:t>Python · stdlib seule, aucun pip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3822191"/>
            <a:ext cx="3429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Le cerveau. Résout MC / loader / Fabric API / loom / Java,</a:t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écrit les fichiers, décide de la compatibilité.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3063240"/>
            <a:ext cx="365760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206240" y="3209544"/>
            <a:ext cx="68580" cy="12984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25696" y="320954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53B"/>
                </a:solidFill>
                <a:latin typeface="Courier New"/>
              </a:rPr>
              <a:t>test-matrix.sh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352958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6D28D9"/>
                </a:solidFill>
                <a:latin typeface="Arial"/>
              </a:rPr>
              <a:t>Bash · boucle de versions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5696" y="3822191"/>
            <a:ext cx="3429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Pour CHAQUE version que le mod revendique : build gradle</a:t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+ serveur. Écrit test-matrix-status.txt.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1000" y="3063240"/>
            <a:ext cx="365760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8001000" y="3209544"/>
            <a:ext cx="68580" cy="12984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0456" y="320954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53B"/>
                </a:solidFill>
                <a:latin typeface="Courier New"/>
              </a:rPr>
              <a:t>headless-server-test.sh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6" y="352958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6D28D9"/>
                </a:solidFill>
                <a:latin typeface="Arial"/>
              </a:rPr>
              <a:t>Bash · une version, un serveur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6" y="3822191"/>
            <a:ext cx="3429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Démarre un serveur dédié, attend "Done", vérifie que le mod</a:t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a bien enregistré ses potions, puis l'arrête.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5029200"/>
            <a:ext cx="11338560" cy="12344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13892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B253B"/>
                </a:solidFill>
                <a:latin typeface="Arial"/>
              </a:rPr>
              <a:t>État partagé : ce ne sont pas des variables de workflow, ce sont des FICHIERS du repo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440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Courier New"/>
              </a:rPr>
              <a:t>gradle.properties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7150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minecraft_version, loader, fabric_api,</a:t>
            </a:r>
          </a:p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loom, java_version, mod_version, supported_…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5440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Courier New"/>
              </a:rPr>
              <a:t>fabric.mod.json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57150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depends.minecraft (ce que Fabric Loader</a:t>
            </a:r>
          </a:p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accepte de charger), depends.java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5440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Courier New"/>
              </a:rPr>
              <a:t>.mc-update-state.json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57150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snapshot d'AVANT la MàJ (gitignored),</a:t>
            </a:r>
          </a:p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lu par --revert-compat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9720" y="5440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Courier New"/>
              </a:rPr>
              <a:t>test-matrix-status.txt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57150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« &lt;version&gt; ok|build|server » par ligne,</a:t>
            </a:r>
          </a:p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relu par le corps de PR et l'issue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B253B"/>
                </a:solidFill>
                <a:latin typeface="Arial"/>
              </a:rPr>
              <a:t>Schéma global : qui appelle quoi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Trois chaînes indépendantes. Seule celle de gauche modifie le repo ; les deux autres constatent.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060704"/>
            <a:ext cx="5074920" cy="5074920"/>
          </a:xfrm>
          <a:prstGeom prst="roundRect">
            <a:avLst>
              <a:gd name="adj" fmla="val 3000"/>
            </a:avLst>
          </a:prstGeom>
          <a:solidFill>
            <a:srgbClr val="F4F6FA"/>
          </a:solidFill>
          <a:ln w="12700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" y="1115568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677D"/>
                </a:solidFill>
                <a:latin typeface="Arial"/>
              </a:rPr>
              <a:t>MISE À JOUR AUTOMATIQUE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0" y="1060704"/>
            <a:ext cx="3063240" cy="5074920"/>
          </a:xfrm>
          <a:prstGeom prst="roundRect">
            <a:avLst>
              <a:gd name="adj" fmla="val 3000"/>
            </a:avLst>
          </a:prstGeom>
          <a:solidFill>
            <a:srgbClr val="F4F6FA"/>
          </a:solidFill>
          <a:ln w="12700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51576" y="1115568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677D"/>
                </a:solidFill>
                <a:latin typeface="Arial"/>
              </a:rPr>
              <a:t>INTÉGRATION CONTINUE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87968" y="1060704"/>
            <a:ext cx="2926080" cy="5074920"/>
          </a:xfrm>
          <a:prstGeom prst="roundRect">
            <a:avLst>
              <a:gd name="adj" fmla="val 3000"/>
            </a:avLst>
          </a:prstGeom>
          <a:solidFill>
            <a:srgbClr val="F4F6FA"/>
          </a:solidFill>
          <a:ln w="12700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15984" y="11155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677D"/>
                </a:solidFill>
                <a:latin typeface="Arial"/>
              </a:rPr>
              <a:t>APRÈS MERGE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1426464"/>
            <a:ext cx="2331720" cy="384048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0">
                <a:solidFill>
                  <a:srgbClr val="475569"/>
                </a:solidFill>
                <a:latin typeface="Arial"/>
              </a:rPr>
              <a:t>cron · mercredi 06:00 UTC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99232" y="1426464"/>
            <a:ext cx="2331720" cy="384048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workflow_dispatch (version, --force)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" y="2084831"/>
            <a:ext cx="4800600" cy="402336"/>
          </a:xfrm>
          <a:prstGeom prst="roundRect">
            <a:avLst>
              <a:gd name="adj" fmla="val 10000"/>
            </a:avLst>
          </a:prstGeom>
          <a:solidFill>
            <a:srgbClr val="E4ECFD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D4ED8"/>
                </a:solidFill>
                <a:latin typeface="Courier New"/>
              </a:rPr>
              <a:t>check-new-minecraft.yml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761488"/>
            <a:ext cx="2834640" cy="566928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>
                <a:solidFill>
                  <a:srgbClr val="B45309"/>
                </a:solidFill>
                <a:latin typeface="Courier New"/>
              </a:rPr>
              <a:t>scripts/update-mc-version.py</a:t>
            </a:r>
          </a:p>
          <a:p>
            <a:pPr algn="ctr"/>
            <a:r>
              <a:rPr sz="900" b="0">
                <a:solidFill>
                  <a:srgbClr val="5B677D"/>
                </a:solidFill>
                <a:latin typeface="Courier New"/>
              </a:rPr>
              <a:t>résout et écrit les fichiers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39312" y="2761488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Mojang · Fabric meta</a:t>
            </a:r>
          </a:p>
          <a:p>
            <a:pPr algn="ctr"/>
            <a:r>
              <a:rPr sz="750" b="0">
                <a:solidFill>
                  <a:srgbClr val="5B677D"/>
                </a:solidFill>
                <a:latin typeface="Arial"/>
              </a:rPr>
              <a:t>Modrinth · Maven loom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" y="3621024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0">
                <a:solidFill>
                  <a:srgbClr val="6D28D9"/>
                </a:solidFill>
                <a:latin typeface="Courier New"/>
              </a:rPr>
              <a:t>test-matrix.sh   —   pour chaque version revendiquée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4315968"/>
            <a:ext cx="3959352" cy="402336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>
                <a:solidFill>
                  <a:srgbClr val="6D28D9"/>
                </a:solidFill>
                <a:latin typeface="Courier New"/>
              </a:rPr>
              <a:t>headless-server-test.sh   (1 run par version)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" y="4974336"/>
            <a:ext cx="2286000" cy="402336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>
                <a:solidFill>
                  <a:srgbClr val="15703D"/>
                </a:solidFill>
                <a:latin typeface="Courier New"/>
              </a:rPr>
              <a:t>--mark-supported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4952" y="4974336"/>
            <a:ext cx="2286000" cy="402336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>
                <a:solidFill>
                  <a:srgbClr val="B01C1C"/>
                </a:solidFill>
                <a:latin typeface="Courier New"/>
              </a:rPr>
              <a:t>--revert-compat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" y="5614416"/>
            <a:ext cx="2286000" cy="402336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>
                <a:solidFill>
                  <a:srgbClr val="15703D"/>
                </a:solidFill>
                <a:latin typeface="Arial"/>
              </a:rPr>
              <a:t>PR prête à merger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44952" y="5614416"/>
            <a:ext cx="2286000" cy="402336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>
                <a:solidFill>
                  <a:srgbClr val="B01C1C"/>
                </a:solidFill>
                <a:latin typeface="Arial"/>
              </a:rPr>
              <a:t>PR draft + issue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691640" y="1810512"/>
            <a:ext cx="594360" cy="274319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3566160" y="1810512"/>
            <a:ext cx="594360" cy="274319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2057400" y="2487168"/>
            <a:ext cx="868680" cy="274320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364992" y="2962656"/>
            <a:ext cx="274320" cy="0"/>
          </a:xfrm>
          <a:prstGeom prst="line">
            <a:avLst/>
          </a:prstGeom>
          <a:ln w="1524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364992" y="3127248"/>
            <a:ext cx="274320" cy="0"/>
          </a:xfrm>
          <a:prstGeom prst="line">
            <a:avLst/>
          </a:prstGeom>
          <a:ln w="1524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47672" y="3328416"/>
            <a:ext cx="0" cy="292608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926080" y="4078224"/>
            <a:ext cx="0" cy="237744"/>
          </a:xfrm>
          <a:prstGeom prst="line">
            <a:avLst/>
          </a:prstGeom>
          <a:ln w="19050">
            <a:solidFill>
              <a:srgbClr val="6D28D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673352" y="4718304"/>
            <a:ext cx="0" cy="256032"/>
          </a:xfrm>
          <a:prstGeom prst="line">
            <a:avLst/>
          </a:prstGeom>
          <a:ln w="19050">
            <a:solidFill>
              <a:srgbClr val="157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187952" y="4718304"/>
            <a:ext cx="0" cy="256032"/>
          </a:xfrm>
          <a:prstGeom prst="line">
            <a:avLst/>
          </a:prstGeom>
          <a:ln w="19050">
            <a:solidFill>
              <a:srgbClr val="B01C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673352" y="5376672"/>
            <a:ext cx="0" cy="237744"/>
          </a:xfrm>
          <a:prstGeom prst="line">
            <a:avLst/>
          </a:prstGeom>
          <a:ln w="19050">
            <a:solidFill>
              <a:srgbClr val="157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187952" y="5376672"/>
            <a:ext cx="0" cy="237744"/>
          </a:xfrm>
          <a:prstGeom prst="line">
            <a:avLst/>
          </a:prstGeom>
          <a:ln w="19050">
            <a:solidFill>
              <a:srgbClr val="B01C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764792" y="4700016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5703D"/>
                </a:solidFill>
                <a:latin typeface="Arial"/>
              </a:rPr>
              <a:t>matrice verte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79392" y="4700016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B01C1C"/>
                </a:solidFill>
                <a:latin typeface="Arial"/>
              </a:rPr>
              <a:t>1 version KO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60720" y="1426464"/>
            <a:ext cx="2788920" cy="384048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push master · pull_request · manuel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60720" y="2084831"/>
            <a:ext cx="2788920" cy="402336"/>
          </a:xfrm>
          <a:prstGeom prst="roundRect">
            <a:avLst>
              <a:gd name="adj" fmla="val 10000"/>
            </a:avLst>
          </a:prstGeom>
          <a:solidFill>
            <a:srgbClr val="E4ECFD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D4ED8"/>
                </a:solidFill>
                <a:latin typeface="Courier New"/>
              </a:rPr>
              <a:t>ci.yml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60720" y="2761488"/>
            <a:ext cx="278892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>
                <a:solidFill>
                  <a:srgbClr val="1B253B"/>
                </a:solidFill>
                <a:latin typeface="Arial"/>
              </a:rPr>
              <a:t>setup-java</a:t>
            </a:r>
          </a:p>
          <a:p>
            <a:pPr algn="ctr"/>
            <a:r>
              <a:rPr sz="900" b="0">
                <a:solidFill>
                  <a:srgbClr val="5B677D"/>
                </a:solidFill>
                <a:latin typeface="Arial"/>
              </a:rPr>
              <a:t>java_version lu dans gradle.properties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0720" y="3621024"/>
            <a:ext cx="2788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Courier New"/>
              </a:rPr>
              <a:t>./gradlew build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4315968"/>
            <a:ext cx="2788920" cy="402336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>
                <a:solidFill>
                  <a:srgbClr val="6D28D9"/>
                </a:solidFill>
                <a:latin typeface="Courier New"/>
              </a:rPr>
              <a:t>headless-server-test.sh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4974336"/>
            <a:ext cx="2788920" cy="402336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artefact logs si échec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150608" y="1810512"/>
            <a:ext cx="0" cy="274319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150608" y="2487168"/>
            <a:ext cx="0" cy="274320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150608" y="3328416"/>
            <a:ext cx="0" cy="292608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50608" y="4078224"/>
            <a:ext cx="0" cy="237744"/>
          </a:xfrm>
          <a:prstGeom prst="line">
            <a:avLst/>
          </a:prstGeom>
          <a:ln w="19050">
            <a:solidFill>
              <a:srgbClr val="6D28D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150608" y="4718304"/>
            <a:ext cx="0" cy="256032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330952" y="4517136"/>
            <a:ext cx="429768" cy="0"/>
          </a:xfrm>
          <a:prstGeom prst="line">
            <a:avLst/>
          </a:prstGeom>
          <a:ln w="15240">
            <a:solidFill>
              <a:srgbClr val="6D28D9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029200" y="4133087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6D28D9"/>
                </a:solidFill>
                <a:latin typeface="Arial"/>
              </a:rPr>
              <a:t>même script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34272" y="1426464"/>
            <a:ext cx="2651760" cy="384048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push master touchant gradle.properties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34272" y="2084831"/>
            <a:ext cx="2651760" cy="402336"/>
          </a:xfrm>
          <a:prstGeom prst="roundRect">
            <a:avLst>
              <a:gd name="adj" fmla="val 10000"/>
            </a:avLst>
          </a:prstGeom>
          <a:solidFill>
            <a:srgbClr val="E4ECFD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D4ED8"/>
                </a:solidFill>
                <a:latin typeface="Courier New"/>
              </a:rPr>
              <a:t>tag-mc-support.yml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34272" y="2761488"/>
            <a:ext cx="26517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>
                <a:solidFill>
                  <a:srgbClr val="1B253B"/>
                </a:solidFill>
                <a:latin typeface="Arial"/>
              </a:rPr>
              <a:t>lit mod_version</a:t>
            </a:r>
          </a:p>
          <a:p>
            <a:pPr algn="ctr"/>
            <a:r>
              <a:rPr sz="900" b="0">
                <a:solidFill>
                  <a:srgbClr val="5B677D"/>
                </a:solidFill>
                <a:latin typeface="Arial"/>
              </a:rPr>
              <a:t>et les autres clés de version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034272" y="3621024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>tag déjà présent ?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34272" y="4315968"/>
            <a:ext cx="2651760" cy="402336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>
                <a:solidFill>
                  <a:srgbClr val="15703D"/>
                </a:solidFill>
                <a:latin typeface="Courier New"/>
              </a:rPr>
              <a:t>git tag -a v&lt;mod_version&gt;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034272" y="4974336"/>
            <a:ext cx="2651760" cy="402336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0">
                <a:solidFill>
                  <a:srgbClr val="475569"/>
                </a:solidFill>
                <a:latin typeface="Arial"/>
              </a:rPr>
              <a:t>sinon : sortie 0, rien à faire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0360152" y="1810512"/>
            <a:ext cx="0" cy="274319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360152" y="2487168"/>
            <a:ext cx="0" cy="274320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360152" y="3328416"/>
            <a:ext cx="0" cy="292608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360152" y="4078224"/>
            <a:ext cx="0" cy="237744"/>
          </a:xfrm>
          <a:prstGeom prst="line">
            <a:avLst/>
          </a:prstGeom>
          <a:ln w="19050">
            <a:solidFill>
              <a:srgbClr val="157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0424160" y="405993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5703D"/>
                </a:solidFill>
                <a:latin typeface="Arial"/>
              </a:rPr>
              <a:t>non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7200" y="6345936"/>
            <a:ext cx="237744" cy="173736"/>
          </a:xfrm>
          <a:prstGeom prst="roundRect">
            <a:avLst>
              <a:gd name="adj" fmla="val 25000"/>
            </a:avLst>
          </a:prstGeom>
          <a:solidFill>
            <a:srgbClr val="E4ECFD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9808" y="62956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workflow GitHub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869948" y="6345936"/>
            <a:ext cx="237744" cy="173736"/>
          </a:xfrm>
          <a:prstGeom prst="roundRect">
            <a:avLst>
              <a:gd name="adj" fmla="val 25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162556" y="62956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script Python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145536" y="6345936"/>
            <a:ext cx="237744" cy="173736"/>
          </a:xfrm>
          <a:prstGeom prst="roundRect">
            <a:avLst>
              <a:gd name="adj" fmla="val 25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38144" y="62956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script bash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83964" y="6345936"/>
            <a:ext cx="237744" cy="173736"/>
          </a:xfrm>
          <a:prstGeom prst="roundRect">
            <a:avLst>
              <a:gd name="adj" fmla="val 25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6572" y="62956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succès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079492" y="6345936"/>
            <a:ext cx="237744" cy="173736"/>
          </a:xfrm>
          <a:prstGeom prst="roundRect">
            <a:avLst>
              <a:gd name="adj" fmla="val 25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72100" y="62956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échec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806440" y="6345936"/>
            <a:ext cx="237744" cy="173736"/>
          </a:xfrm>
          <a:prstGeom prst="roundRect">
            <a:avLst>
              <a:gd name="adj" fmla="val 25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099048" y="62956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déclencheur / externe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B253B"/>
                </a:solidFill>
                <a:latin typeface="Arial"/>
              </a:rPr>
              <a:t>ci.yml — le garde-fou de tous les jours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push master · pull_request · workflow_dispatch   |   concurrency: ci-&lt;ref&gt;, annule la course précédente   |   timeout 40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603504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603504" y="1490472"/>
            <a:ext cx="265176" cy="26517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142646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checkout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4538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Courier New"/>
              </a:rPr>
              <a:t>actions/checkout@v4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74720" y="1874519"/>
            <a:ext cx="0" cy="155448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57200" y="2029967"/>
            <a:ext cx="6035040" cy="502920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603504" y="2148839"/>
            <a:ext cx="265176" cy="26517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0848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Read the Java 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2112263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Courier New"/>
              </a:rPr>
              <a:t>sed sur gradle.properties → java_version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74720" y="2532887"/>
            <a:ext cx="0" cy="155448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57200" y="2688335"/>
            <a:ext cx="603504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6" name="Oval 15"/>
          <p:cNvSpPr/>
          <p:nvPr/>
        </p:nvSpPr>
        <p:spPr>
          <a:xfrm>
            <a:off x="603504" y="2807207"/>
            <a:ext cx="265176" cy="26517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27431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Set up JDK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770631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Courier New"/>
              </a:rPr>
              <a:t>temurin, version lue à l'étape précédente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474720" y="3191255"/>
            <a:ext cx="0" cy="155448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3346703"/>
            <a:ext cx="603504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1" name="Oval 20"/>
          <p:cNvSpPr/>
          <p:nvPr/>
        </p:nvSpPr>
        <p:spPr>
          <a:xfrm>
            <a:off x="603504" y="3465575"/>
            <a:ext cx="265176" cy="26517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340156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Set up Gradle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3428999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Courier New"/>
              </a:rPr>
              <a:t>gradle/actions/setup-gradle@v4 (cache)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74720" y="3849623"/>
            <a:ext cx="0" cy="155448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57200" y="4005071"/>
            <a:ext cx="603504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6" name="Oval 25"/>
          <p:cNvSpPr/>
          <p:nvPr/>
        </p:nvSpPr>
        <p:spPr>
          <a:xfrm>
            <a:off x="603504" y="4123943"/>
            <a:ext cx="265176" cy="26517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40599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4087367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Courier New"/>
              </a:rPr>
              <a:t>chmod +x gradlew ; ./gradlew build --stacktrace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474720" y="4507991"/>
            <a:ext cx="0" cy="155448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57200" y="4663439"/>
            <a:ext cx="6035040" cy="502920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1" name="Oval 30"/>
          <p:cNvSpPr/>
          <p:nvPr/>
        </p:nvSpPr>
        <p:spPr>
          <a:xfrm>
            <a:off x="603504" y="4782311"/>
            <a:ext cx="265176" cy="26517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" y="47183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Headless server 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4745735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Courier New"/>
              </a:rPr>
              <a:t>bash .github/scripts/headless-server-test.sh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474720" y="5166359"/>
            <a:ext cx="0" cy="155448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457200" y="5321807"/>
            <a:ext cx="6035040" cy="502920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6" name="Oval 35"/>
          <p:cNvSpPr/>
          <p:nvPr/>
        </p:nvSpPr>
        <p:spPr>
          <a:xfrm>
            <a:off x="603504" y="5440679"/>
            <a:ext cx="265176" cy="26517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" y="537667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Upload logs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404103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Courier New"/>
              </a:rPr>
              <a:t>if: failure() — server-test.log + run/logs, 7 jours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12280" y="1371600"/>
            <a:ext cx="4937760" cy="2103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15087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53B"/>
                </a:solidFill>
                <a:latin typeface="Arial"/>
              </a:rPr>
              <a:t>Le point qui compte : le JDK suit Minecraft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1901952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B677D"/>
                </a:solidFill>
                <a:latin typeface="Arial"/>
              </a:rPr>
              <a:t>java_version n'est pas écrit à la main : update-mc-version.py le lit dans le manifest Mojang de la version ciblée (javaVersion.majorVersion) et l'écrit dans gradle.properties.</a:t>
            </a:r>
          </a:p>
          <a:p>
            <a:pPr algn="l"/>
            <a:r>
              <a:rPr sz="1050" b="0">
                <a:solidFill>
                  <a:srgbClr val="5B677D"/>
                </a:solidFill>
                <a:latin typeface="Arial"/>
              </a:rPr>
              <a:t/>
            </a:r>
          </a:p>
          <a:p>
            <a:pPr algn="l"/>
            <a:r>
              <a:rPr sz="1050" b="0">
                <a:solidFill>
                  <a:srgbClr val="5B677D"/>
                </a:solidFill>
                <a:latin typeface="Arial"/>
              </a:rPr>
              <a:t>Résultat : build.gradle, ci.yml et check-new-minecraft.yml lisent tous la même clé. Un bump Minecraft qui exige un nouveau JDK n'a aucune autre édition à faire.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12280" y="3657600"/>
            <a:ext cx="4937760" cy="2423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0" y="37947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53B"/>
                </a:solidFill>
                <a:latin typeface="Arial"/>
              </a:rPr>
              <a:t>Ce que ci.yml ne fait PAS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60" y="416052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>
                <a:solidFill>
                  <a:srgbClr val="5B677D"/>
                </a:solidFill>
                <a:latin typeface="Arial"/>
              </a:rPr>
              <a:t>Il ne teste qu'une seule version : celle de gradle.properties.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5B677D"/>
                </a:solidFill>
                <a:latin typeface="Arial"/>
              </a:rPr>
              <a:t>Il n'écrit rien : pas de commit, pas de tag, pas de PR.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5B677D"/>
                </a:solidFill>
                <a:latin typeface="Arial"/>
              </a:rPr>
              <a:t>Il ne tourne PAS sur les PR ouvertes par check-new-minecraft.yml : une PR créée avec le GITHUB_TOKEN par défaut ne déclenche pas pull_request. Sans conséquence — ce workflow-là teste déjà sa propre branche.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B253B"/>
                </a:solidFill>
                <a:latin typeface="Arial"/>
              </a:rPr>
              <a:t>check-new-minecraft.yml — la chaîne complète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Tous les steps après la résolution sont conditionnés par status == 'updated' : si rien de neuf, le job s'arrête en 20 secondes.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3520440" cy="658368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B45309"/>
                </a:solidFill>
                <a:latin typeface="Arial"/>
              </a:rPr>
              <a:t>Resolve and apply versions</a:t>
            </a:r>
          </a:p>
          <a:p>
            <a:pPr algn="ctr"/>
            <a:r>
              <a:rPr sz="1050" b="0">
                <a:solidFill>
                  <a:srgbClr val="5B677D"/>
                </a:solidFill>
                <a:latin typeface="Arial"/>
              </a:rPr>
              <a:t>python3 scripts/update-mc-version.py [version] [--force]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207008"/>
            <a:ext cx="7498079" cy="658368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1B253B"/>
                </a:solidFill>
                <a:latin typeface="Arial"/>
              </a:rPr>
              <a:t>Le code de sortie du script pilote le job</a:t>
            </a:r>
          </a:p>
          <a:p>
            <a:pPr algn="ctr"/>
            <a:r>
              <a:rPr sz="1000" b="0">
                <a:solidFill>
                  <a:srgbClr val="5B677D"/>
                </a:solidFill>
                <a:latin typeface="Arial"/>
              </a:rPr>
              <a:t>0 = ok ou déjà à jour    ·    2 = Fabric pas encore prêt (sortie normale)    ·    1 = vraie erreur → job en échec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1536192"/>
            <a:ext cx="274321" cy="0"/>
          </a:xfrm>
          <a:prstGeom prst="line">
            <a:avLst/>
          </a:prstGeom>
          <a:ln w="1524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7200" y="2240280"/>
            <a:ext cx="3749039" cy="868680"/>
          </a:xfrm>
          <a:prstGeom prst="roundRect">
            <a:avLst>
              <a:gd name="adj" fmla="val 10000"/>
            </a:avLst>
          </a:prstGeom>
          <a:solidFill>
            <a:srgbClr val="E4ECFD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D4ED8"/>
                </a:solidFill>
                <a:latin typeface="Arial"/>
              </a:rPr>
              <a:t>status = updated</a:t>
            </a:r>
          </a:p>
          <a:p>
            <a:pPr algn="ctr"/>
            <a:r>
              <a:rPr sz="950" b="0">
                <a:solidFill>
                  <a:srgbClr val="5B677D"/>
                </a:solidFill>
                <a:latin typeface="Arial"/>
              </a:rPr>
              <a:t>Fichiers modifiés dans le workspace : tout ce qui suit se déclenche.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240280"/>
            <a:ext cx="3566160" cy="86868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475569"/>
                </a:solidFill>
                <a:latin typeface="Arial"/>
              </a:rPr>
              <a:t>status = up-to-date</a:t>
            </a:r>
          </a:p>
          <a:p>
            <a:pPr algn="ctr"/>
            <a:r>
              <a:rPr sz="950" b="0">
                <a:solidFill>
                  <a:srgbClr val="5B677D"/>
                </a:solidFill>
                <a:latin typeface="Arial"/>
              </a:rPr>
              <a:t>Résumé dans le step summary, puis fin du job.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2240280"/>
            <a:ext cx="3520440" cy="86868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475569"/>
                </a:solidFill>
                <a:latin typeface="Arial"/>
              </a:rPr>
              <a:t>status = unsupported</a:t>
            </a:r>
          </a:p>
          <a:p>
            <a:pPr algn="ctr"/>
            <a:r>
              <a:rPr sz="950" b="0">
                <a:solidFill>
                  <a:srgbClr val="5B677D"/>
                </a:solidFill>
                <a:latin typeface="Arial"/>
              </a:rPr>
              <a:t>Fabric ne publie encore ni loader ni API : retry au prochain cron.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75688" y="1865376"/>
            <a:ext cx="0" cy="374904"/>
          </a:xfrm>
          <a:prstGeom prst="line">
            <a:avLst/>
          </a:prstGeom>
          <a:ln w="19050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00400" y="1865376"/>
            <a:ext cx="1280160" cy="374904"/>
          </a:xfrm>
          <a:prstGeom prst="line">
            <a:avLst/>
          </a:prstGeom>
          <a:ln w="1524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566160" y="1865376"/>
            <a:ext cx="4663440" cy="374904"/>
          </a:xfrm>
          <a:prstGeom prst="line">
            <a:avLst/>
          </a:prstGeom>
          <a:ln w="1524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57200" y="3310128"/>
            <a:ext cx="4846320" cy="566928"/>
          </a:xfrm>
          <a:prstGeom prst="roundRect">
            <a:avLst>
              <a:gd name="adj" fmla="val 10000"/>
            </a:avLst>
          </a:prstGeom>
          <a:solidFill>
            <a:srgbClr val="E4ECFD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6499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Commit du bump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59359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branche chore/mc-&lt;version&gt; · gradle.properties + fabric.mod.json + mixins.json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023360"/>
            <a:ext cx="484632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7822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Set up JDK + Gradle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0682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APRÈS la résolution : le JDK est celui qu'exige la NOUVELLE version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736592"/>
            <a:ext cx="4846320" cy="566928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9145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test-matrix.sh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02005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build + serveur pour chaque version revendiquée · continue-on-error: true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880360" y="3108960"/>
            <a:ext cx="0" cy="201168"/>
          </a:xfrm>
          <a:prstGeom prst="line">
            <a:avLst/>
          </a:prstGeom>
          <a:ln w="15240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80360" y="3877056"/>
            <a:ext cx="0" cy="146304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880360" y="4590288"/>
            <a:ext cx="0" cy="146304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57200" y="5440680"/>
            <a:ext cx="2331720" cy="502920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15703D"/>
                </a:solidFill>
                <a:latin typeface="Arial"/>
              </a:rPr>
              <a:t>tests = success</a:t>
            </a:r>
          </a:p>
          <a:p>
            <a:pPr algn="ctr"/>
            <a:r>
              <a:rPr sz="950" b="0">
                <a:solidFill>
                  <a:srgbClr val="5B677D"/>
                </a:solidFill>
                <a:latin typeface="Arial"/>
              </a:rPr>
              <a:t>--mark-supported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71800" y="5440680"/>
            <a:ext cx="2331720" cy="502920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B01C1C"/>
                </a:solidFill>
                <a:latin typeface="Arial"/>
              </a:rPr>
              <a:t>tests ≠ success</a:t>
            </a:r>
          </a:p>
          <a:p>
            <a:pPr algn="ctr"/>
            <a:r>
              <a:rPr sz="950" b="0">
                <a:solidFill>
                  <a:srgbClr val="5B677D"/>
                </a:solidFill>
                <a:latin typeface="Arial"/>
              </a:rPr>
              <a:t>--revert-compat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618488" y="5303520"/>
            <a:ext cx="0" cy="137160"/>
          </a:xfrm>
          <a:prstGeom prst="line">
            <a:avLst/>
          </a:prstGeom>
          <a:ln w="15240">
            <a:solidFill>
              <a:srgbClr val="157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133087" y="5303520"/>
            <a:ext cx="0" cy="137160"/>
          </a:xfrm>
          <a:prstGeom prst="line">
            <a:avLst/>
          </a:prstGeom>
          <a:ln w="15240">
            <a:solidFill>
              <a:srgbClr val="B01C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715000" y="3310128"/>
            <a:ext cx="6035040" cy="269748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342900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B253B"/>
                </a:solidFill>
                <a:latin typeface="Arial"/>
              </a:rPr>
              <a:t>Puis, dans l'ordre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7880" y="3767328"/>
            <a:ext cx="57150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00" b="1">
                <a:solidFill>
                  <a:srgbClr val="1B253B"/>
                </a:solidFill>
                <a:latin typeface="Arial"/>
              </a:rPr>
              <a:t>Upload logs </a:t>
            </a:r>
            <a:r>
              <a:rPr sz="1000">
                <a:solidFill>
                  <a:srgbClr val="1B253B"/>
                </a:solidFill>
                <a:latin typeface="Arial"/>
              </a:rPr>
              <a:t>test-matrix.log + server-test-*.log + run/logs, 30 jours.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1B253B"/>
                </a:solidFill>
                <a:latin typeface="Arial"/>
              </a:rPr>
              <a:t>Write the PR body </a:t>
            </a:r>
            <a:r>
              <a:rPr sz="1000">
                <a:solidFill>
                  <a:srgbClr val="1B253B"/>
                </a:solidFill>
                <a:latin typeface="Arial"/>
              </a:rPr>
              <a:t>lit test-matrix-status.txt ligne par ligne — PAS --list-test-versions, qui donnerait la mauvaise liste après un revert.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1B253B"/>
                </a:solidFill>
                <a:latin typeface="Arial"/>
              </a:rPr>
              <a:t>Push and open the PR </a:t>
            </a:r>
            <a:r>
              <a:rPr sz="1000">
                <a:solidFill>
                  <a:srgbClr val="1B253B"/>
                </a:solidFill>
                <a:latin typeface="Arial"/>
              </a:rPr>
              <a:t>force-push de la branche, label minecraft-update, assignée à Spatulox. Base = le ref d'où tourne le workflow (master en cron). PR draft si la matrice a échoué.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1B253B"/>
                </a:solidFill>
                <a:latin typeface="Arial"/>
              </a:rPr>
              <a:t>Open a failure issue </a:t>
            </a:r>
            <a:r>
              <a:rPr sz="1000">
                <a:solidFill>
                  <a:srgbClr val="1B253B"/>
                </a:solidFill>
                <a:latin typeface="Arial"/>
              </a:rPr>
              <a:t>seulement si échec. Titre déterministe → un rerun commente l'issue existante au lieu d'en empiler une nouvelle.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6108192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Courier New"/>
              </a:rPr>
              <a:t>permissions : contents: write · pull-requests: write · issues: write (le label doit pouvoir être créé)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B253B"/>
                </a:solidFill>
                <a:latin typeface="Arial"/>
              </a:rPr>
              <a:t>Le modèle de compatibilité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Deux clés qui doivent rester d'accord. Une « série » = les deux premiers composants d'une version (26.1.2 → 26.1) ; un jar couvre une série.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486400" cy="1371600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45309"/>
                </a:solidFill>
                <a:latin typeface="Courier New"/>
              </a:rPr>
              <a:t>supported_minecraft_versions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Courier New"/>
              </a:rPr>
              <a:t>gradle.properties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9339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B253B"/>
                </a:solidFill>
                <a:latin typeface="Arial"/>
              </a:rPr>
              <a:t>Ce qui est ANNONCÉ sur Modrinth / CurseForge.</a:t>
            </a:r>
          </a:p>
          <a:p>
            <a:pPr algn="l"/>
            <a:r>
              <a:rPr sz="1050" b="0">
                <a:solidFill>
                  <a:srgbClr val="1B253B"/>
                </a:solidFill>
                <a:latin typeface="Arial"/>
              </a:rPr>
              <a:t>Lu par build.gradle, envoyé par Minotaur au moment de la publication.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80160"/>
            <a:ext cx="5486400" cy="1371600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417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D28D9"/>
                </a:solidFill>
                <a:latin typeface="Courier New"/>
              </a:rPr>
              <a:t>depends.minecraft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Courier New"/>
              </a:rPr>
              <a:t>src/main/resources/fabric.mod.json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99339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B253B"/>
                </a:solidFill>
                <a:latin typeface="Arial"/>
              </a:rPr>
              <a:t>Ce que Fabric Loader CHARGE ou REFUSE au runtime.</a:t>
            </a:r>
          </a:p>
          <a:p>
            <a:pPr algn="l"/>
            <a:r>
              <a:rPr sz="1050" b="0">
                <a:solidFill>
                  <a:srgbClr val="1B253B"/>
                </a:solidFill>
                <a:latin typeface="Arial"/>
              </a:rPr>
              <a:t>Un joueur sur une version hors plage voit le mod rejeté au démarrage.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971800"/>
          <a:ext cx="69494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017520"/>
                <a:gridCol w="21945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minecraft_version</a:t>
                      </a:r>
                    </a:p>
                  </a:txBody>
                  <a:tcPr marL="73152" marR="54864" marT="27432" marB="27432" anchor="ctr"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supported_minecraft_versions</a:t>
                      </a:r>
                    </a:p>
                  </a:txBody>
                  <a:tcPr marL="73152" marR="54864" marT="27432" marB="27432" anchor="ctr"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depends.minecraft</a:t>
                      </a:r>
                    </a:p>
                  </a:txBody>
                  <a:tcPr marL="73152" marR="54864" marT="27432" marB="27432" anchor="ctr">
                    <a:solidFill>
                      <a:srgbClr val="1D4ED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26.1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26.1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"=26.1"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26.1.1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26.1,26.1.1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"&gt;=26.1 &lt;=26.1.1"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26.1.2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26.1,26.1.1,26.1.2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"&gt;=26.1 &lt;=26.1.2"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26.2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Arial"/>
                        </a:rPr>
                        <a:t>26.2  (série remise à zéro)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"=26.2"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7726679" y="2971800"/>
            <a:ext cx="4023360" cy="30632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3108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53B"/>
                </a:solidFill>
                <a:latin typeface="Arial"/>
              </a:rPr>
              <a:t>Conséquence : il faut une matrice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520440"/>
            <a:ext cx="365760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depends.minecraft couvre TOUTE la série, pas seulement la dernière version.</a:t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/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Or une mise à jour bump aussi Fabric Loader et Fabric API vers leur dernière release. Rien ne prouve que 26.1 et 26.1.1 tournent encore avec CETTE Fabric API.</a:t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/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Ne tester que 26.1.2 laisserait donc deux versions promises par le jar — et listées sur les stores — totalement non vérifiées.</a:t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/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D'où test-matrix.sh, qui construit et démarre chacune d'elles avec les dépendances résolues : exactement la combinaison qui part en production.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69494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10235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53B"/>
                </a:solidFill>
                <a:latin typeface="Arial"/>
              </a:rPr>
              <a:t>La série est calculée à un seul endroit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9496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series_of() / versions_to_test() / compat_range() vivent dans update-mc-version.py.</a:t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test-matrix.sh ne recalcule rien : il demande la liste avec --list-test-versions.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253B"/>
                </a:solidFill>
                <a:latin typeface="Arial"/>
              </a:rPr>
              <a:t>Le pari optimiste : élargir, tester, puis confirmer ou annuler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Pourquoi la plage de compatibilité est augmentée AVANT les tests — et comment on la reprend si les tests échouent.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11292840" cy="804672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1C1C"/>
                </a:solidFill>
                <a:latin typeface="Arial"/>
              </a:rPr>
              <a:t>Le problème d'amorçage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253B"/>
                </a:solidFill>
                <a:latin typeface="Arial"/>
              </a:rPr>
              <a:t>Si depends.minecraft reste sur l'ancienne plage, Fabric Loader REFUSE de charger le mod sur le serveur de la nouvelle version : aucune version nouvelle ne pourrait jamais être validée. Il faut donc élargir d'abord, tester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86000"/>
            <a:ext cx="2606040" cy="132588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957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75569"/>
                </a:solidFill>
                <a:latin typeface="Arial"/>
              </a:rPr>
              <a:t>1 · Snapshot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2331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253B"/>
                </a:solidFill>
                <a:latin typeface="Arial"/>
              </a:rPr>
              <a:t>save_update_state() écrit .mc-update-state.json</a:t>
            </a:r>
          </a:p>
          <a:p>
            <a:pPr algn="l"/>
            <a:r>
              <a:rPr sz="900" b="0">
                <a:solidFill>
                  <a:srgbClr val="1B253B"/>
                </a:solidFill>
                <a:latin typeface="Arial"/>
              </a:rPr>
              <a:t>avec supported_… et depends.minecraft</a:t>
            </a:r>
          </a:p>
          <a:p>
            <a:pPr algn="l"/>
            <a:r>
              <a:rPr sz="900" b="0">
                <a:solidFill>
                  <a:srgbClr val="1B253B"/>
                </a:solidFill>
                <a:latin typeface="Arial"/>
              </a:rPr>
              <a:t>TELS QU'ILS ÉTAIENT avant la MàJ.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2286000"/>
            <a:ext cx="2606040" cy="1325880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3957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45309"/>
                </a:solidFill>
                <a:latin typeface="Arial"/>
              </a:rPr>
              <a:t>2 · Élargissement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697480"/>
            <a:ext cx="2331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253B"/>
                </a:solidFill>
                <a:latin typeface="Arial"/>
              </a:rPr>
              <a:t>compat_range() écrit la nouvelle plage.</a:t>
            </a:r>
          </a:p>
          <a:p>
            <a:pPr algn="l"/>
            <a:r>
              <a:rPr sz="900" b="0">
                <a:solidFill>
                  <a:srgbClr val="1B253B"/>
                </a:solidFill>
                <a:latin typeface="Arial"/>
              </a:rPr>
              <a:t>supported_minecraft_versions n'est PAS</a:t>
            </a:r>
          </a:p>
          <a:p>
            <a:pPr algn="l"/>
            <a:r>
              <a:rPr sz="900" b="0">
                <a:solidFill>
                  <a:srgbClr val="1B253B"/>
                </a:solidFill>
                <a:latin typeface="Arial"/>
              </a:rPr>
              <a:t>touché ici — rien n'est encore prouvé.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286000"/>
            <a:ext cx="2606040" cy="1325880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3957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D28D9"/>
                </a:solidFill>
                <a:latin typeface="Arial"/>
              </a:rPr>
              <a:t>3 · Matrice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697480"/>
            <a:ext cx="2331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253B"/>
                </a:solidFill>
                <a:latin typeface="Arial"/>
              </a:rPr>
              <a:t>test-matrix.sh construit et démarre</a:t>
            </a:r>
          </a:p>
          <a:p>
            <a:pPr algn="l"/>
            <a:r>
              <a:rPr sz="900" b="0">
                <a:solidFill>
                  <a:srgbClr val="1B253B"/>
                </a:solidFill>
                <a:latin typeface="Arial"/>
              </a:rPr>
              <a:t>un serveur pour chaque version</a:t>
            </a:r>
          </a:p>
          <a:p>
            <a:pPr algn="l"/>
            <a:r>
              <a:rPr sz="900" b="0">
                <a:solidFill>
                  <a:srgbClr val="1B253B"/>
                </a:solidFill>
                <a:latin typeface="Arial"/>
              </a:rPr>
              <a:t>de la série.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2944368"/>
            <a:ext cx="274320" cy="0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943600" y="2944368"/>
            <a:ext cx="274320" cy="0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98280" y="2286000"/>
            <a:ext cx="2651760" cy="566928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5703D"/>
                </a:solidFill>
                <a:latin typeface="Arial"/>
              </a:rPr>
              <a:t>TOUT passe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3044952"/>
            <a:ext cx="2651760" cy="566928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B01C1C"/>
                </a:solidFill>
                <a:latin typeface="Arial"/>
              </a:rPr>
              <a:t>≥ 1 version échoue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8823960" y="2569464"/>
            <a:ext cx="274320" cy="265176"/>
          </a:xfrm>
          <a:prstGeom prst="line">
            <a:avLst/>
          </a:prstGeom>
          <a:ln w="19050">
            <a:solidFill>
              <a:srgbClr val="157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823960" y="3063240"/>
            <a:ext cx="274320" cy="265176"/>
          </a:xfrm>
          <a:prstGeom prst="line">
            <a:avLst/>
          </a:prstGeom>
          <a:ln w="19050">
            <a:solidFill>
              <a:srgbClr val="B01C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57200" y="3794760"/>
            <a:ext cx="557784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9319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5703D"/>
                </a:solidFill>
                <a:latin typeface="Courier New"/>
              </a:rPr>
              <a:t>4a · --mark-supported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297680"/>
            <a:ext cx="5257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ajoute </a:t>
            </a:r>
            <a:r>
              <a:rPr sz="1050">
                <a:solidFill>
                  <a:srgbClr val="1B253B"/>
                </a:solidFill>
                <a:latin typeface="Arial"/>
              </a:rPr>
              <a:t>minecraft_version à supported_minecraft_versions ;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recalcule </a:t>
            </a:r>
            <a:r>
              <a:rPr sz="1050">
                <a:solidFill>
                  <a:srgbClr val="1B253B"/>
                </a:solidFill>
                <a:latin typeface="Arial"/>
              </a:rPr>
              <a:t>depends.minecraft à partir de CETTE liste, si bien que les deux clés ne peuvent pas diverger ;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efface </a:t>
            </a:r>
            <a:r>
              <a:rPr sz="1050">
                <a:solidFill>
                  <a:srgbClr val="1B253B"/>
                </a:solidFill>
                <a:latin typeface="Arial"/>
              </a:rPr>
              <a:t>.mc-update-state.json : il n'y a plus rien à annuler ;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commit </a:t>
            </a:r>
            <a:r>
              <a:rPr sz="1050">
                <a:solidFill>
                  <a:srgbClr val="1B253B"/>
                </a:solidFill>
                <a:latin typeface="Arial"/>
              </a:rPr>
              <a:t>« validate Minecraft &lt;v&gt; (build + headless server) ».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794760"/>
            <a:ext cx="557784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9319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B01C1C"/>
                </a:solidFill>
                <a:latin typeface="Courier New"/>
              </a:rPr>
              <a:t>4b · --revert-compat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297680"/>
            <a:ext cx="5257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restaure </a:t>
            </a:r>
            <a:r>
              <a:rPr sz="1050">
                <a:solidFill>
                  <a:srgbClr val="1B253B"/>
                </a:solidFill>
                <a:latin typeface="Arial"/>
              </a:rPr>
              <a:t>supported_minecraft_versions et depends.minecraft depuis le snapshot ;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garde </a:t>
            </a:r>
            <a:r>
              <a:rPr sz="1050">
                <a:solidFill>
                  <a:srgbClr val="1B253B"/>
                </a:solidFill>
                <a:latin typeface="Arial"/>
              </a:rPr>
              <a:t>les bumps de version (minecraft, loader, fabric_api, loom, java) : c'est le diff de dépendances dont quelqu'un repart pour corriger à la main ;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refuse </a:t>
            </a:r>
            <a:r>
              <a:rPr sz="1050">
                <a:solidFill>
                  <a:srgbClr val="1B253B"/>
                </a:solidFill>
                <a:latin typeface="Arial"/>
              </a:rPr>
              <a:t>de tourner si le snapshot ne correspond pas à la version actuelle — garde-fou contre un revert de travers.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035040"/>
            <a:ext cx="11292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5B677D"/>
                </a:solidFill>
                <a:latin typeface="Arial"/>
              </a:rPr>
              <a:t>C'est le seul endroit du dépôt où la compatibilité est affirmée : ce que les stores annoncent n'est écrit qu'après une preuve d'exécution.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B253B"/>
                </a:solidFill>
                <a:latin typeface="Arial"/>
              </a:rPr>
              <a:t>scripts/update-mc-version.py — le cerveau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Bibliothèque standard uniquement (aucun pip). Le même code sert en CI et en local, pour que les deux ne puissent pas diverger.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53B"/>
                </a:solidFill>
                <a:latin typeface="Arial"/>
              </a:rPr>
              <a:t>Ce qu'il résout, et où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36192"/>
          <a:ext cx="566928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931920"/>
              </a:tblGrid>
              <a:tr h="35814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Valeur</a:t>
                      </a:r>
                    </a:p>
                  </a:txBody>
                  <a:tcPr marL="73152" marR="54864" marT="27432" marB="27432" anchor="ctr"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73152" marR="54864" marT="27432" marB="27432" anchor="ctr">
                    <a:solidFill>
                      <a:srgbClr val="1D4ED8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minecraft_version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manifest Mojang (.latest.release)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java_version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manifest de la version → javaVersion.majorVersion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loader_version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Fabric meta, dernier STABLE de cette version MC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fabric_api_version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Modrinth, filtré sur game_versions + loader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loom_version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Maven Fabric, dernier stable trié numériquement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88620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53B"/>
                </a:solidFill>
                <a:latin typeface="Arial"/>
              </a:rPr>
              <a:t>Les détails qui évitent les faux positifs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24528"/>
            <a:ext cx="5806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1B253B"/>
                </a:solidFill>
                <a:latin typeface="Arial"/>
              </a:rPr>
              <a:t>Fabric meta répond 400 </a:t>
            </a:r>
            <a:r>
              <a:rPr sz="1000">
                <a:solidFill>
                  <a:srgbClr val="1B253B"/>
                </a:solidFill>
                <a:latin typeface="Arial"/>
              </a:rPr>
              <a:t>(pas 404) pour une version inconnue : ce statut est autorisé explicitement, sinon un 5xx passerait pour un « pas encore publié » et la CI resterait verte sans plus rien mettre à jour.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1B253B"/>
                </a:solidFill>
                <a:latin typeface="Arial"/>
              </a:rPr>
              <a:t>Le Maven loom liste par ordre de PUBLICATION </a:t>
            </a:r>
            <a:r>
              <a:rPr sz="1000">
                <a:solidFill>
                  <a:srgbClr val="1B253B"/>
                </a:solidFill>
                <a:latin typeface="Arial"/>
              </a:rPr>
              <a:t>(1.17.14 après 1.18.0-alpha.4) : la liste est triée numériquement, et &lt;release&gt; est ignoré car il peut pointer une pré-release.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1B253B"/>
                </a:solidFill>
                <a:latin typeface="Arial"/>
              </a:rPr>
              <a:t>--loom </a:t>
            </a:r>
            <a:r>
              <a:rPr sz="1000">
                <a:solidFill>
                  <a:srgbClr val="1B253B"/>
                </a:solidFill>
                <a:latin typeface="Arial"/>
              </a:rPr>
              <a:t>est l'échappatoire quand un loom récent ne sait pas construire une vieille version.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188720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53B"/>
                </a:solidFill>
                <a:latin typeface="Arial"/>
              </a:rPr>
              <a:t>Les modes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536192"/>
          <a:ext cx="5349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3657600"/>
              </a:tblGrid>
              <a:tr h="3352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Option</a:t>
                      </a:r>
                    </a:p>
                  </a:txBody>
                  <a:tcPr marL="73152" marR="54864" marT="27432" marB="27432" anchor="ctr"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Effet</a:t>
                      </a:r>
                    </a:p>
                  </a:txBody>
                  <a:tcPr marL="73152" marR="54864" marT="27432" marB="27432" anchor="ctr">
                    <a:solidFill>
                      <a:srgbClr val="1D4ED8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(aucune)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résout et écrit les fichiers, sans rien affirmer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--dry-run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montre le diff, n'écrit rien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--json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sortie machine sur stdout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--force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rejoue même si le repo est déjà sur la version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--list-test-versions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liste les versions à démarrer (lue par test-matrix.sh)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--mark-supported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affirme la compatibilité — après tests SEULEMENT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--revert-compat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restaure les claims, garde les bumps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--run-tests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enchaîne tout en local : MàJ, matrice, puis mark ou revert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4800600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53B"/>
                </a:solidFill>
                <a:latin typeface="Arial"/>
              </a:rPr>
              <a:t>Codes de sortie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5148072"/>
            <a:ext cx="365760" cy="292608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15703D"/>
                </a:solidFill>
                <a:latin typeface="Courier New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5175504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succès — mis à jour, ou déjà à jour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5532120"/>
            <a:ext cx="365760" cy="292608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475569"/>
                </a:solidFill>
                <a:latin typeface="Courier New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559552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Fabric ne supporte pas encore cette version — sortie normale, le workflow s'arrête proprement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5916168"/>
            <a:ext cx="365760" cy="292608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B01C1C"/>
                </a:solidFill>
                <a:latin typeface="Courier New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5943600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vraie erreur (réseau, clé absente, tests en échec) — le job échoue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253B"/>
                </a:solidFill>
                <a:latin typeface="Arial"/>
              </a:rPr>
              <a:t>test-matrix.sh — la boucle sur les versions revendiquées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bash .github/scripts/test-matrix.sh   ·   utilisable tel quel en local   ·   MC_VERSIONS="26.1 26.1.2" pour forcer la liste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4206240" cy="594360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0">
                <a:solidFill>
                  <a:srgbClr val="B45309"/>
                </a:solidFill>
                <a:latin typeface="Courier New"/>
              </a:rPr>
              <a:t>python3 scripts/update-mc-version.py --list-test-versions</a:t>
            </a:r>
          </a:p>
          <a:p>
            <a:pPr algn="ctr"/>
            <a:r>
              <a:rPr sz="800" b="0">
                <a:solidFill>
                  <a:srgbClr val="5B677D"/>
                </a:solidFill>
                <a:latin typeface="Courier New"/>
              </a:rPr>
              <a:t>la notion de « série » n'existe qu'à cet endroit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4206240" cy="41148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0">
                <a:solidFill>
                  <a:srgbClr val="475569"/>
                </a:solidFill>
                <a:latin typeface="Courier New"/>
              </a:rPr>
              <a:t>MC_VERSIONS="…"  court-circuite la liste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1828800"/>
            <a:ext cx="0" cy="182880"/>
          </a:xfrm>
          <a:prstGeom prst="line">
            <a:avLst/>
          </a:prstGeom>
          <a:ln w="1524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60320" y="2423160"/>
            <a:ext cx="0" cy="411480"/>
          </a:xfrm>
          <a:prstGeom prst="line">
            <a:avLst/>
          </a:prstGeom>
          <a:ln w="19050">
            <a:solidFill>
              <a:srgbClr val="6D28D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57200" y="2834640"/>
            <a:ext cx="4206240" cy="2377440"/>
          </a:xfrm>
          <a:prstGeom prst="roundRect">
            <a:avLst>
              <a:gd name="adj" fmla="val 5000"/>
            </a:avLst>
          </a:prstGeom>
          <a:solidFill>
            <a:srgbClr val="EFE8FD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Arial"/>
              </a:rPr>
              <a:t>pour chaque version MC de la liste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246120"/>
            <a:ext cx="3749039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0">
                <a:solidFill>
                  <a:srgbClr val="1B253B"/>
                </a:solidFill>
                <a:latin typeface="Courier New"/>
              </a:rPr>
              <a:t>./gradlew build -Pminecraft_version=$MC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886200"/>
            <a:ext cx="3749039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0">
                <a:solidFill>
                  <a:srgbClr val="1B253B"/>
                </a:solidFill>
                <a:latin typeface="Courier New"/>
              </a:rPr>
              <a:t>headless-server-test.sh</a:t>
            </a:r>
          </a:p>
          <a:p>
            <a:pPr algn="ctr"/>
            <a:r>
              <a:rPr sz="800" b="0">
                <a:solidFill>
                  <a:srgbClr val="5B677D"/>
                </a:solidFill>
                <a:latin typeface="Courier New"/>
              </a:rPr>
              <a:t>LOG=server-test-$MC.log · EXPECTED_MC=$MC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617720"/>
            <a:ext cx="3749039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0">
                <a:solidFill>
                  <a:srgbClr val="1B253B"/>
                </a:solidFill>
                <a:latin typeface="Courier New"/>
              </a:rPr>
              <a:t>echo "$MC ok|build|server" &gt;&gt; status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0320" y="3685032"/>
            <a:ext cx="0" cy="201168"/>
          </a:xfrm>
          <a:prstGeom prst="line">
            <a:avLst/>
          </a:prstGeom>
          <a:ln w="15240">
            <a:solidFill>
              <a:srgbClr val="6D28D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560320" y="4453128"/>
            <a:ext cx="0" cy="164592"/>
          </a:xfrm>
          <a:prstGeom prst="line">
            <a:avLst/>
          </a:prstGeom>
          <a:ln w="15240">
            <a:solidFill>
              <a:srgbClr val="6D28D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7200" y="5440680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15703D"/>
                </a:solidFill>
                <a:latin typeface="Arial"/>
              </a:rPr>
              <a:t>sortie 0</a:t>
            </a:r>
          </a:p>
          <a:p>
            <a:pPr algn="ctr"/>
            <a:r>
              <a:rPr sz="900" b="0">
                <a:solidFill>
                  <a:srgbClr val="5B677D"/>
                </a:solidFill>
                <a:latin typeface="Arial"/>
              </a:rPr>
              <a:t>toutes 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5440680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B01C1C"/>
                </a:solidFill>
                <a:latin typeface="Arial"/>
              </a:rPr>
              <a:t>sortie 1</a:t>
            </a:r>
          </a:p>
          <a:p>
            <a:pPr algn="ctr"/>
            <a:r>
              <a:rPr sz="900" b="0">
                <a:solidFill>
                  <a:srgbClr val="5B677D"/>
                </a:solidFill>
                <a:latin typeface="Arial"/>
              </a:rPr>
              <a:t>n/N cassées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1280160"/>
            <a:ext cx="6720840" cy="2148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141732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B253B"/>
                </a:solidFill>
                <a:latin typeface="Arial"/>
              </a:rPr>
              <a:t>test-matrix-status.txt : la trace de ce qui a VRAIMENT tourné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1783080"/>
            <a:ext cx="6309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253B"/>
                </a:solidFill>
                <a:latin typeface="Courier New"/>
              </a:rPr>
              <a:t>26.1    ok</a:t>
            </a:r>
          </a:p>
          <a:p>
            <a:pPr algn="l"/>
            <a:r>
              <a:rPr sz="1100" b="0">
                <a:solidFill>
                  <a:srgbClr val="1B253B"/>
                </a:solidFill>
                <a:latin typeface="Courier New"/>
              </a:rPr>
              <a:t>26.1.1  ok</a:t>
            </a:r>
          </a:p>
          <a:p>
            <a:pPr algn="l"/>
            <a:r>
              <a:rPr sz="1100" b="0">
                <a:solidFill>
                  <a:srgbClr val="1B253B"/>
                </a:solidFill>
                <a:latin typeface="Courier New"/>
              </a:rPr>
              <a:t>26.1.2  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2606040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Le corps de la PR et l'issue lisent CE fichier, pas --list-test-versions : au moment où ils s'exécutent, --revert-compat a pu raccourcir la liste des versions supportées, et la liste recalculée ne correspondrait plus à ce qui a été testé.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3611880"/>
            <a:ext cx="6720840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3749039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B253B"/>
                </a:solidFill>
                <a:latin typeface="Arial"/>
              </a:rPr>
              <a:t>Trois décisions de conception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411480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1B253B"/>
                </a:solidFill>
                <a:latin typeface="Arial"/>
              </a:rPr>
              <a:t>continue au lieu de s'arrêter </a:t>
            </a:r>
            <a:r>
              <a:rPr sz="1000">
                <a:solidFill>
                  <a:srgbClr val="1B253B"/>
                </a:solidFill>
                <a:latin typeface="Arial"/>
              </a:rPr>
              <a:t>une version cassée n'empêche pas de tester les suivantes : le rapport final liste toutes les versions, pas seulement la première tombée.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1B253B"/>
                </a:solidFill>
                <a:latin typeface="Arial"/>
              </a:rPr>
              <a:t>un log par version </a:t>
            </a:r>
            <a:r>
              <a:rPr sz="1000">
                <a:solidFill>
                  <a:srgbClr val="1B253B"/>
                </a:solidFill>
                <a:latin typeface="Arial"/>
              </a:rPr>
              <a:t>server-test-&lt;mc&gt;.log : une panne au milieu de la matrice garde les preuves des runs qui l'entourent.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1B253B"/>
                </a:solidFill>
                <a:latin typeface="Arial"/>
              </a:rPr>
              <a:t>la version qui casse n'est pas forcément la plus récente </a:t>
            </a:r>
            <a:r>
              <a:rPr sz="1000">
                <a:solidFill>
                  <a:srgbClr val="1B253B"/>
                </a:solidFill>
                <a:latin typeface="Arial"/>
              </a:rPr>
              <a:t>bump de Fabric API peut casser une version ANCIENNE de la série ; l'issue extrait ces versions du fichier de statut.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B253B"/>
                </a:solidFill>
                <a:latin typeface="Arial"/>
              </a:rPr>
              <a:t>headless-server-test.sh — démarrer ne suffit pas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Un serveur dédié réel est lancé par loom, puis le log est passé au crible. Variables : RUN_DIR · LOG · BOOT_TIMEOUT (900s) · STOP_TIMEOUT · EXPECTED_MC · GRADLE_ARGS · LEVEL_NAME.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5623560" cy="658368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930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253B"/>
                </a:solidFill>
                <a:latin typeface="Arial"/>
              </a:rPr>
              <a:t>Préparation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eula=true · monde plat · watchdog désactivé (max-tick-time=-1) · view/simulation-distance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84248"/>
            <a:ext cx="5623560" cy="658368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391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253B"/>
                </a:solidFill>
                <a:latin typeface="Arial"/>
              </a:rPr>
              <a:t>Le monde est effacé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58568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une sauvegarde écrite par une version récente refuse de se charger sur une plus ancienne — ce qui casserait la matrice dès qu'elle teste une vieille version après une neuve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34056"/>
            <a:ext cx="5623560" cy="658368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889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253B"/>
                </a:solidFill>
                <a:latin typeface="Arial"/>
              </a:rPr>
              <a:t>FIFO ouvert en 3&lt;&gt; et non 3&gt;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08375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ouvrir un FIFO en écriture seule BLOQUE jusqu'à ce qu'un lecteur arrive, et le lecteur (gradle) n'est lancé qu'après ; le mode &lt;&gt; ne bloque jamais et garde stdin ouvert côté serveur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20440"/>
            <a:ext cx="5623560" cy="502920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>
                <a:solidFill>
                  <a:srgbClr val="6D28D9"/>
                </a:solidFill>
                <a:latin typeface="Courier New"/>
              </a:rPr>
              <a:t>./gradlew runServer $GRADLE_ARGS --no-daemon  →  attente de « Done (…s) 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06240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0">
                <a:solidFill>
                  <a:srgbClr val="1B253B"/>
                </a:solidFill>
                <a:latin typeface="Arial"/>
              </a:rPr>
              <a:t>Arrêt : « stop » envoyé dans le FIFO, puis kill après STOP_TIMEOUT</a:t>
            </a:r>
          </a:p>
          <a:p>
            <a:pPr algn="ctr"/>
            <a:r>
              <a:rPr sz="800" b="0">
                <a:solidFill>
                  <a:srgbClr val="5B677D"/>
                </a:solidFill>
                <a:latin typeface="Arial"/>
              </a:rPr>
              <a:t>(loom ne relaie pas toujours stdin — le serveur a démarré, c'est ce qui comptait)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83480"/>
            <a:ext cx="5623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Échec possible à deux endroits avant même les greps 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257800"/>
            <a:ext cx="5623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· « Done » jamais atteint dans BOOT_TIMEOUT (processus toujours vivant)</a:t>
            </a:r>
          </a:p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· le processus est mort avant d'avoir fini de démarrer</a:t>
            </a:r>
          </a:p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Dans les deux cas : les 200 dernières lignes du log sont recrachées.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188720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53B"/>
                </a:solidFill>
                <a:latin typeface="Arial"/>
              </a:rPr>
              <a:t>Les 5 vérifications sur le log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536192"/>
            <a:ext cx="53492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0" name="Oval 19"/>
          <p:cNvSpPr/>
          <p:nvPr/>
        </p:nvSpPr>
        <p:spPr>
          <a:xfrm>
            <a:off x="6537960" y="1655064"/>
            <a:ext cx="256032" cy="256032"/>
          </a:xfrm>
          <a:prstGeom prst="ellipse">
            <a:avLst/>
          </a:prstGeom>
          <a:solidFill>
            <a:srgbClr val="157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1591056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Le mod est chargé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80136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grep 'extended-time-potion' dans le log de démarrage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157984"/>
            <a:ext cx="5349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4" name="Oval 23"/>
          <p:cNvSpPr/>
          <p:nvPr/>
        </p:nvSpPr>
        <p:spPr>
          <a:xfrm>
            <a:off x="6537960" y="2276856"/>
            <a:ext cx="256032" cy="256032"/>
          </a:xfrm>
          <a:prstGeom prst="ellipse">
            <a:avLst/>
          </a:prstGeom>
          <a:solidFill>
            <a:srgbClr val="157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212848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C'est la BONNE version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423160"/>
            <a:ext cx="4754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la version démarrée (« Starting minecraft server version … ») doit être égale à EXPECTED_MC. Sans ça, un cache loom périmé ou un -Pminecraft_version ignoré rendrait le test vert sur la mauvaise version.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2944368"/>
            <a:ext cx="5349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3063239"/>
            <a:ext cx="256032" cy="256032"/>
          </a:xfrm>
          <a:prstGeom prst="ellipse">
            <a:avLst/>
          </a:prstGeom>
          <a:solidFill>
            <a:srgbClr val="157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2999232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Aucune signature fatale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209544"/>
            <a:ext cx="4754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Mixin apply failed | Failed to load mod | Could not execute entrypoint | A potential solution has been determined | Incompatible mod set. Grep ciblé : Minecraft loggue beaucoup de WARN inoffensifs.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3730752"/>
            <a:ext cx="53492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2" name="Oval 31"/>
          <p:cNvSpPr/>
          <p:nvPr/>
        </p:nvSpPr>
        <p:spPr>
          <a:xfrm>
            <a:off x="6537960" y="3849624"/>
            <a:ext cx="256032" cy="256032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785615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Le callback de brassage a tourné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399592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« Brewing mixes registered » — sans lui, FabricPotionBrewingBuilder est cassé et le mod ne sert à rien, serveur démarré ou pas.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4352544"/>
            <a:ext cx="5349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6" name="Oval 35"/>
          <p:cNvSpPr/>
          <p:nvPr/>
        </p:nvSpPr>
        <p:spPr>
          <a:xfrm>
            <a:off x="6537960" y="4471416"/>
            <a:ext cx="256032" cy="256032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4407407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Le bon NOMBRE de potions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617720"/>
            <a:ext cx="4754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« Registered N potions » comparé à EXPECTED_POTIONS, lui-même compté dans la source (grep -c '= registerPotion(') plutôt qu'écrit en dur : ajouter une potion ne demande aucune édition du script.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6144768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45309"/>
                </a:solidFill>
                <a:latin typeface="Arial"/>
              </a:rPr>
              <a:t>Les vérifications 4 et 5 sont ce qui distingue un smoke test d'un vrai test : un registre vide passerait les trois premières.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253B"/>
                </a:solidFill>
                <a:latin typeface="Arial"/>
              </a:rPr>
              <a:t>tag-mc-support.yml — retrouver le commit d'une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push sur master touchant gradle.properties (ou manuel) · fetch-depth: 0 pour connaître les tags existants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12064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>lire mod_version dans gradle.properties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512064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Courier New"/>
              </a:rPr>
              <a:t>TAG = v$MOD_VERSION  ·  existe-t-il déjà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34640"/>
            <a:ext cx="2377440" cy="566928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475569"/>
                </a:solidFill>
                <a:latin typeface="Arial"/>
              </a:rPr>
              <a:t>oui</a:t>
            </a:r>
          </a:p>
          <a:p>
            <a:pPr algn="ctr"/>
            <a:r>
              <a:rPr sz="900" b="0">
                <a:solidFill>
                  <a:srgbClr val="5B677D"/>
                </a:solidFill>
                <a:latin typeface="Arial"/>
              </a:rPr>
              <a:t>sortie 0, résumé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2834640"/>
            <a:ext cx="2377440" cy="566928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15703D"/>
                </a:solidFill>
                <a:latin typeface="Arial"/>
              </a:rPr>
              <a:t>non</a:t>
            </a:r>
          </a:p>
          <a:p>
            <a:pPr algn="ctr"/>
            <a:r>
              <a:rPr sz="900" b="0">
                <a:solidFill>
                  <a:srgbClr val="5B677D"/>
                </a:solidFill>
                <a:latin typeface="Arial"/>
              </a:rPr>
              <a:t>création du tag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03320"/>
            <a:ext cx="5120640" cy="1371600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22191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5703D"/>
                </a:solidFill>
                <a:latin typeface="Arial"/>
              </a:rPr>
              <a:t>Le message du tag annoté embarque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1480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253B"/>
                </a:solidFill>
                <a:latin typeface="Courier New"/>
              </a:rPr>
              <a:t>Minecraft &lt;version&gt;</a:t>
            </a:r>
          </a:p>
          <a:p>
            <a:pPr algn="l"/>
            <a:r>
              <a:rPr sz="1000" b="0">
                <a:solidFill>
                  <a:srgbClr val="1B253B"/>
                </a:solidFill>
                <a:latin typeface="Courier New"/>
              </a:rPr>
              <a:t>supported_minecraft_versions · depends.minecraft</a:t>
            </a:r>
          </a:p>
          <a:p>
            <a:pPr algn="l"/>
            <a:r>
              <a:rPr sz="1000" b="0">
                <a:solidFill>
                  <a:srgbClr val="1B253B"/>
                </a:solidFill>
                <a:latin typeface="Courier New"/>
              </a:rPr>
              <a:t>fabric-loader · fabric-api · fabric-loom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17520" y="1874519"/>
            <a:ext cx="0" cy="228601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645920" y="2606040"/>
            <a:ext cx="457200" cy="228600"/>
          </a:xfrm>
          <a:prstGeom prst="line">
            <a:avLst/>
          </a:prstGeom>
          <a:ln w="1905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931920" y="2606040"/>
            <a:ext cx="457200" cy="228600"/>
          </a:xfrm>
          <a:prstGeom prst="line">
            <a:avLst/>
          </a:prstGeom>
          <a:ln w="19050">
            <a:solidFill>
              <a:srgbClr val="157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3017520" y="3401568"/>
            <a:ext cx="1371600" cy="301752"/>
          </a:xfrm>
          <a:prstGeom prst="bentConnector3">
            <a:avLst/>
          </a:prstGeom>
          <a:ln w="19050">
            <a:solidFill>
              <a:srgbClr val="157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943600" y="1371600"/>
            <a:ext cx="5806440" cy="219456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15087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B253B"/>
                </a:solidFill>
                <a:latin typeface="Arial"/>
              </a:rPr>
              <a:t>Pourquoi mod_version et pas « supported… a grandi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1874519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B677D"/>
                </a:solidFill>
                <a:latin typeface="Arial"/>
              </a:rPr>
              <a:t>Le tag PORTE mod_version : c'est le seul champ qui garantit un nom unique.</a:t>
            </a:r>
          </a:p>
          <a:p>
            <a:pPr algn="l"/>
            <a:r>
              <a:rPr sz="1050" b="0">
                <a:solidFill>
                  <a:srgbClr val="5B677D"/>
                </a:solidFill>
                <a:latin typeface="Arial"/>
              </a:rPr>
              <a:t/>
            </a:r>
          </a:p>
          <a:p>
            <a:pPr algn="l"/>
            <a:r>
              <a:rPr sz="1050" b="0">
                <a:solidFill>
                  <a:srgbClr val="5B677D"/>
                </a:solidFill>
                <a:latin typeface="Arial"/>
              </a:rPr>
              <a:t>Et ça couvre aussi les releases purement mod (1.1.0 → 1.2.0 sans changement Minecraft), qui méritent un tag alors qu'aucune version Minecraft n'a bougé.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370332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38221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B253B"/>
                </a:solidFill>
                <a:latin typeface="Arial"/>
              </a:rPr>
              <a:t>Limite assumée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16052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B677D"/>
                </a:solidFill>
                <a:latin typeface="Arial"/>
              </a:rPr>
              <a:t>Un patch (26.1.1 → 26.1.2) ne change pas la série, donc pas mod_version, donc pas de nouveau tag. supported_minecraft_versions et depends.minecraft en gardent la trace ; c'est jugé suffisant.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394960"/>
            <a:ext cx="11292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5B677D"/>
                </a:solidFill>
                <a:latin typeface="Arial"/>
              </a:rPr>
              <a:t>Le workflow est idempotent : « le tag n'existe pas encore » est toute la condition, aucun diff avec le commit précédent n'est nécessaire, et un rerun ne casse rien.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B253B"/>
                </a:solidFill>
                <a:latin typeface="Arial"/>
              </a:rPr>
              <a:t>Qui lit quoi : gradle.properties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Aucune version n'est écrite en double. Chaque consommateur relit la même clé.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2788920"/>
            <a:ext cx="3566160" cy="1325880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B45309"/>
                </a:solidFill>
                <a:latin typeface="Courier New"/>
              </a:rPr>
              <a:t>gradle.properties</a:t>
            </a:r>
          </a:p>
          <a:p>
            <a:pPr algn="ctr"/>
            <a:r>
              <a:rPr sz="900" b="0">
                <a:solidFill>
                  <a:srgbClr val="5B677D"/>
                </a:solidFill>
                <a:latin typeface="Courier New"/>
              </a:rPr>
              <a:t>minecraft_version · java_version</a:t>
            </a:r>
          </a:p>
          <a:p>
            <a:pPr algn="ctr"/>
            <a:r>
              <a:rPr sz="900" b="0">
                <a:solidFill>
                  <a:srgbClr val="5B677D"/>
                </a:solidFill>
                <a:latin typeface="Courier New"/>
              </a:rPr>
              <a:t>loader_version · fabric_api_version</a:t>
            </a:r>
          </a:p>
          <a:p>
            <a:pPr algn="ctr"/>
            <a:r>
              <a:rPr sz="900" b="0">
                <a:solidFill>
                  <a:srgbClr val="5B677D"/>
                </a:solidFill>
                <a:latin typeface="Courier New"/>
              </a:rPr>
              <a:t>loom_version · mod_version</a:t>
            </a:r>
          </a:p>
          <a:p>
            <a:pPr algn="ctr"/>
            <a:r>
              <a:rPr sz="900" b="0">
                <a:solidFill>
                  <a:srgbClr val="5B677D"/>
                </a:solidFill>
                <a:latin typeface="Courier New"/>
              </a:rPr>
              <a:t>supported_minecraft_versions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3108960" cy="640080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07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45309"/>
                </a:solidFill>
                <a:latin typeface="Courier New"/>
              </a:rPr>
              <a:t>update-mc-version.py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6362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écrit toutes les clés de version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554480"/>
            <a:ext cx="731520" cy="1645920"/>
          </a:xfrm>
          <a:prstGeom prst="line">
            <a:avLst/>
          </a:prstGeom>
          <a:ln w="16510">
            <a:solidFill>
              <a:srgbClr val="B453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57200" y="2148840"/>
            <a:ext cx="3108960" cy="640080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19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5703D"/>
                </a:solidFill>
                <a:latin typeface="Courier New"/>
              </a:rPr>
              <a:t>--mark-supported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7802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écrit supported_minecraft_versions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66160" y="2468880"/>
            <a:ext cx="731520" cy="731520"/>
          </a:xfrm>
          <a:prstGeom prst="line">
            <a:avLst/>
          </a:prstGeom>
          <a:ln w="16510">
            <a:solidFill>
              <a:srgbClr val="157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57200" y="3063240"/>
            <a:ext cx="3108960" cy="640080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1363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1C1C"/>
                </a:solidFill>
                <a:latin typeface="Courier New"/>
              </a:rPr>
              <a:t>--revert-compat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9242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restaure supported_minecraft_versions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66160" y="3383280"/>
            <a:ext cx="731520" cy="0"/>
          </a:xfrm>
          <a:prstGeom prst="line">
            <a:avLst/>
          </a:prstGeom>
          <a:ln w="16510">
            <a:solidFill>
              <a:srgbClr val="B01C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38862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5B677D"/>
                </a:solidFill>
                <a:latin typeface="Arial"/>
              </a:rPr>
              <a:t>ÉCRIVENT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434840"/>
            <a:ext cx="3108960" cy="16002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5445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Une seule source de vérité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46320"/>
            <a:ext cx="2788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Aucun workflow ne code une version en dur : ils lisent tous gradle.properties, que seul le script Python écrit.</a:t>
            </a:r>
          </a:p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/>
            </a:r>
          </a:p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Conséquence : un bump Minecraft ne demande aucune édition de ci.yml, de build.gradle ni des scripts bash.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69680" y="1234440"/>
            <a:ext cx="288036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4272" y="12984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Courier New"/>
              </a:rPr>
              <a:t>build.gradle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4272" y="152704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java_version → release ; supported_… → Modrinth/CurseForge ; échoue si la liste est vide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7863840" y="1645920"/>
            <a:ext cx="1005840" cy="1554480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869680" y="2148840"/>
            <a:ext cx="28803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4272" y="22128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Courier New"/>
              </a:rPr>
              <a:t>ci.yml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441448"/>
            <a:ext cx="2651760" cy="347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java_version → setup-java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7863840" y="2468880"/>
            <a:ext cx="1005840" cy="731520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869680" y="2880360"/>
            <a:ext cx="28803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272" y="294436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Courier New"/>
              </a:rPr>
              <a:t>test-matrix.sh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4272" y="3172968"/>
            <a:ext cx="2651760" cy="347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via --list-test-versions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7863840" y="3200400"/>
            <a:ext cx="1005840" cy="365760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869680" y="3611880"/>
            <a:ext cx="28803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34272" y="367588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Courier New"/>
              </a:rPr>
              <a:t>headless-server-test.sh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4272" y="3904488"/>
            <a:ext cx="2651760" cy="347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minecraft_version par défaut (EXPECTED_MC)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863840" y="3566160"/>
            <a:ext cx="1005840" cy="365760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869680" y="4434840"/>
            <a:ext cx="288036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34272" y="44988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Courier New"/>
              </a:rPr>
              <a:t>tag-mc-support.yml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34272" y="472744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mod_version → nom du tag, le reste → message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863840" y="3566160"/>
            <a:ext cx="1005840" cy="1280160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869680" y="5394960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5B677D"/>
                </a:solidFill>
                <a:latin typeface="Arial"/>
              </a:rPr>
              <a:t>LISENT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97680" y="484632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49560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D28D9"/>
                </a:solidFill>
                <a:latin typeface="Courier New"/>
              </a:rPr>
              <a:t>fabric.mod.json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52303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depends.minecraft / depends.java</a:t>
            </a:r>
          </a:p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Recalculé depuis la même série, jamais saisi à la main.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080760" y="4114800"/>
            <a:ext cx="0" cy="731520"/>
          </a:xfrm>
          <a:prstGeom prst="line">
            <a:avLst/>
          </a:prstGeom>
          <a:ln w="16510">
            <a:solidFill>
              <a:srgbClr val="B453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297680" y="1234440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80560" y="13441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75569"/>
                </a:solidFill>
                <a:latin typeface="Arial"/>
              </a:rPr>
              <a:t>APIs amont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0560" y="1627632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piston-meta.mojang.com (versions + Java)</a:t>
            </a:r>
          </a:p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meta.fabricmc.net (loader)</a:t>
            </a:r>
          </a:p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api.modrinth.com (Fabric API)</a:t>
            </a:r>
          </a:p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maven.fabricmc.net (loom)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080760" y="2468880"/>
            <a:ext cx="0" cy="320040"/>
          </a:xfrm>
          <a:prstGeom prst="line">
            <a:avLst/>
          </a:prstGeom>
          <a:ln w="1651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253B"/>
                </a:solidFill>
                <a:latin typeface="Arial"/>
              </a:rPr>
              <a:t>Les deux issues possibles d'une mise à jour automatique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Dans les deux cas la branche chore/mc-&lt;version&gt; existe et porte le bump de dépendances.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5577840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5577840" cy="502920"/>
          </a:xfrm>
          <a:prstGeom prst="rect">
            <a:avLst/>
          </a:prstGeom>
          <a:solidFill>
            <a:srgbClr val="157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3502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Matrice verte — la PR est prête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21208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2 commits </a:t>
            </a:r>
            <a:r>
              <a:rPr sz="1050">
                <a:solidFill>
                  <a:srgbClr val="1B253B"/>
                </a:solidFill>
                <a:latin typeface="Arial"/>
              </a:rPr>
              <a:t>le bump de dépendances, puis « validate Minecraft &lt;v&gt; ».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supported_minecraft_versions </a:t>
            </a:r>
            <a:r>
              <a:rPr sz="1050">
                <a:solidFill>
                  <a:srgbClr val="1B253B"/>
                </a:solidFill>
                <a:latin typeface="Arial"/>
              </a:rPr>
              <a:t>étendu : les stores annonceront la nouvelle version.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depends.minecraft </a:t>
            </a:r>
            <a:r>
              <a:rPr sz="1050">
                <a:solidFill>
                  <a:srgbClr val="1B253B"/>
                </a:solidFill>
                <a:latin typeface="Arial"/>
              </a:rPr>
              <a:t>conservé tel qu'élargi — la matrice l'a prouvé.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PR non-draft </a:t>
            </a:r>
            <a:r>
              <a:rPr sz="1050">
                <a:solidFill>
                  <a:srgbClr val="1B253B"/>
                </a:solidFill>
                <a:latin typeface="Arial"/>
              </a:rPr>
              <a:t>labellisée minecraft-update, assignée, avec le tableau version par version.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Aucune issue </a:t>
            </a:r>
            <a:r>
              <a:rPr sz="1050">
                <a:solidFill>
                  <a:srgbClr val="1B253B"/>
                </a:solidFill>
                <a:latin typeface="Arial"/>
              </a:rPr>
              <a:t>ouverte.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Reste à la main : </a:t>
            </a:r>
            <a:r>
              <a:rPr sz="1050">
                <a:solidFill>
                  <a:srgbClr val="1B253B"/>
                </a:solidFill>
                <a:latin typeface="Arial"/>
              </a:rPr>
              <a:t>bumper la partie mod de mod_version si c'est une release, ajouter l'entrée CHANGELOG (c'est elle qui est publiée sur les stores), tester le brassage en jeu.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34440"/>
            <a:ext cx="5440680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234440"/>
            <a:ext cx="5440680" cy="502920"/>
          </a:xfrm>
          <a:prstGeom prst="rect">
            <a:avLst/>
          </a:prstGeom>
          <a:solidFill>
            <a:srgbClr val="B0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Au moins une version cassée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74519"/>
            <a:ext cx="51206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2 commits </a:t>
            </a:r>
            <a:r>
              <a:rPr sz="1050">
                <a:solidFill>
                  <a:srgbClr val="1B253B"/>
                </a:solidFill>
                <a:latin typeface="Arial"/>
              </a:rPr>
              <a:t>le bump, puis « revert unproven compatibility ».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Les claims sont revenus </a:t>
            </a:r>
            <a:r>
              <a:rPr sz="1050">
                <a:solidFill>
                  <a:srgbClr val="1B253B"/>
                </a:solidFill>
                <a:latin typeface="Arial"/>
              </a:rPr>
              <a:t>à leur valeur d'avant : le mod ne prétend PAS supporter la nouvelle version.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Le bump de dépendances est gardé </a:t>
            </a:r>
            <a:r>
              <a:rPr sz="1050">
                <a:solidFill>
                  <a:srgbClr val="1B253B"/>
                </a:solidFill>
                <a:latin typeface="Arial"/>
              </a:rPr>
              <a:t>comme point de départ pour la correction manuelle.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PR en draft </a:t>
            </a:r>
            <a:r>
              <a:rPr sz="1050">
                <a:solidFill>
                  <a:srgbClr val="1B253B"/>
                </a:solidFill>
                <a:latin typeface="Arial"/>
              </a:rPr>
              <a:t>avec le verdict et le tableau des versions.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Une issue est ouverte </a:t>
            </a:r>
            <a:r>
              <a:rPr sz="1050">
                <a:solidFill>
                  <a:srgbClr val="1B253B"/>
                </a:solidFill>
                <a:latin typeface="Arial"/>
              </a:rPr>
              <a:t>titre déterministe → un rerun commente l'existante ; elle liste les versions cassées (pas forcément la plus récente) et embarque les 100 dernières lignes de la matrice.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166360"/>
            <a:ext cx="11292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B677D"/>
                </a:solidFill>
                <a:latin typeface="Arial"/>
              </a:rPr>
              <a:t>Note : la PR est ouverte avec le GITHUB_TOKEN par défaut, donc ci.yml ne se déclenche pas dessus — ce workflow a déjà construit et démarré la branche lui-même. Il faut activer Settings ▸ Actions ▸ « Allow GitHub Actions to create and approve pull requests ».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B253B"/>
                </a:solidFill>
                <a:latin typeface="Arial"/>
              </a:rPr>
              <a:t>Reproduire la CI en local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Tous les scripts tournent hors GitHub Actions, avec exactement le même code.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92840" cy="43891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621792" y="1399032"/>
            <a:ext cx="118872" cy="118872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3502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Voir ce qu'une mise à jour changerait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344168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45309"/>
                </a:solidFill>
                <a:latin typeface="Courier New"/>
              </a:rPr>
              <a:t>python3 scripts/update-mc-version.py --dry-run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37360"/>
            <a:ext cx="11292840" cy="43891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621792" y="1901952"/>
            <a:ext cx="118872" cy="118872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3794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Cibler une version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847088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45309"/>
                </a:solidFill>
                <a:latin typeface="Courier New"/>
              </a:rPr>
              <a:t>python3 scripts/update-mc-version.py 26.2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40280"/>
            <a:ext cx="11292840" cy="43891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2404872"/>
            <a:ext cx="118872" cy="118872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3408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Épingler fabric-loom (build cassé dans loom)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350008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45309"/>
                </a:solidFill>
                <a:latin typeface="Courier New"/>
              </a:rPr>
              <a:t>python3 scripts/update-mc-version.py 26.2 --loom 1.13.10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743200"/>
            <a:ext cx="11292840" cy="43891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8" name="Oval 17"/>
          <p:cNvSpPr/>
          <p:nvPr/>
        </p:nvSpPr>
        <p:spPr>
          <a:xfrm>
            <a:off x="621792" y="2907792"/>
            <a:ext cx="118872" cy="118872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284378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Faire tout le pipeline en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852928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45309"/>
                </a:solidFill>
                <a:latin typeface="Courier New"/>
              </a:rPr>
              <a:t>python3 scripts/update-mc-version.py --run-tests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246120"/>
            <a:ext cx="11292840" cy="43891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2" name="Oval 21"/>
          <p:cNvSpPr/>
          <p:nvPr/>
        </p:nvSpPr>
        <p:spPr>
          <a:xfrm>
            <a:off x="621792" y="3410712"/>
            <a:ext cx="118872" cy="118872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346703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Rejouer juste la matrice de versions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355848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D28D9"/>
                </a:solidFill>
                <a:latin typeface="Courier New"/>
              </a:rPr>
              <a:t>bash .github/scripts/test-matrix.sh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749039"/>
            <a:ext cx="11292840" cy="43891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6" name="Oval 25"/>
          <p:cNvSpPr/>
          <p:nvPr/>
        </p:nvSpPr>
        <p:spPr>
          <a:xfrm>
            <a:off x="621792" y="3913631"/>
            <a:ext cx="118872" cy="118872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84962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Tester une seule version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3858768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D28D9"/>
                </a:solidFill>
                <a:latin typeface="Courier New"/>
              </a:rPr>
              <a:t>MC_VERSIONS="26.1.2" bash .github/scripts/test-matrix.sh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59"/>
            <a:ext cx="11292840" cy="43891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0" name="Oval 29"/>
          <p:cNvSpPr/>
          <p:nvPr/>
        </p:nvSpPr>
        <p:spPr>
          <a:xfrm>
            <a:off x="621792" y="4416551"/>
            <a:ext cx="118872" cy="118872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35254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Un seul serveur, version courante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4361688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D28D9"/>
                </a:solidFill>
                <a:latin typeface="Courier New"/>
              </a:rPr>
              <a:t>bash .github/scripts/headless-server-test.sh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754879"/>
            <a:ext cx="11292840" cy="43891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4" name="Oval 33"/>
          <p:cNvSpPr/>
          <p:nvPr/>
        </p:nvSpPr>
        <p:spPr>
          <a:xfrm>
            <a:off x="621792" y="4919471"/>
            <a:ext cx="118872" cy="118872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8554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Serveur avec un timeout court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4864607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D28D9"/>
                </a:solidFill>
                <a:latin typeface="Courier New"/>
              </a:rPr>
              <a:t>BOOT_TIMEOUT=300 bash .github/scripts/headless-server-test.sh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257799"/>
            <a:ext cx="11292840" cy="438912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8" name="Oval 37"/>
          <p:cNvSpPr/>
          <p:nvPr/>
        </p:nvSpPr>
        <p:spPr>
          <a:xfrm>
            <a:off x="621792" y="5422391"/>
            <a:ext cx="118872" cy="118872"/>
          </a:xfrm>
          <a:prstGeom prst="ellipse">
            <a:avLst/>
          </a:prstGeom>
          <a:solidFill>
            <a:srgbClr val="157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358383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Confirmer la compatibilité après tests 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5367527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5703D"/>
                </a:solidFill>
                <a:latin typeface="Courier New"/>
              </a:rPr>
              <a:t>python3 scripts/update-mc-version.py --mark-supported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760719"/>
            <a:ext cx="11292840" cy="438912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42" name="Oval 41"/>
          <p:cNvSpPr/>
          <p:nvPr/>
        </p:nvSpPr>
        <p:spPr>
          <a:xfrm>
            <a:off x="621792" y="5925311"/>
            <a:ext cx="118872" cy="118872"/>
          </a:xfrm>
          <a:prstGeom prst="ellipse">
            <a:avLst/>
          </a:prstGeom>
          <a:solidFill>
            <a:srgbClr val="B0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861303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Reprendre les claims après un échec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0" y="5870447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1C1C"/>
                </a:solidFill>
                <a:latin typeface="Courier New"/>
              </a:rPr>
              <a:t>python3 scripts/update-mc-version.py --revert-compat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355080"/>
            <a:ext cx="11292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B677D"/>
                </a:solidFill>
                <a:latin typeface="Arial"/>
              </a:rPr>
              <a:t>Un run local écrit les mêmes fichiers qu'en CI : pensez à git diff avant de commiter, et à resynchroniser Gradle dans l'IDE après un bump.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